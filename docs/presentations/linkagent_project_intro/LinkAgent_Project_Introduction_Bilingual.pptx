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NotesMaster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>
      <a:defRPr lang="zh-CN">
        <a:latin typeface="Microsoft YaHei"/>
        <a:ea typeface="Microsoft YaHei"/>
        <a:cs typeface="Microsoft YaHei"/>
      </a:defRPr>
    </a:defPPr>
  </p:defaultTextStyle>
  <p:title>LinkAgent · Safe, Tactile, Dexterous Tomato Harvesting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NotesMaster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4" name="幻灯片图像占位符 3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[Sources]</a:t>
            </a:r>
            <a:endParaRPr lang="en-US" altLang="zh-CN"/>
          </a:p>
          <a:p>
            <a:r>
              <a:rPr lang="zh-CN" altLang="en-US"/>
              <a:t>- Project scope: linkagent/README.md and linkagent/preview.md</a:t>
            </a:r>
            <a:endParaRPr lang="en-US" altLang="zh-CN"/>
          </a:p>
          <a:p>
            <a:r>
              <a:rPr lang="zh-CN" altLang="en-US"/>
              <a:t>- No external photographs or claims are embedded on this page.</a:t>
            </a:r>
            <a:endParaRPr lang="en-US" altLang="zh-CN"/>
          </a:p>
          <a:p>
            <a:r>
              <a:rPr lang="zh-CN" altLang="en-US"/>
              <a:t>[/Sources]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[Sources]</a:t>
            </a:r>
            <a:endParaRPr lang="en-US" altLang="zh-CN"/>
          </a:p>
          <a:p>
            <a:r>
              <a:rPr lang="zh-CN" altLang="en-US"/>
              <a:t>- Project goal and harvest-cycle scope: linkagent/preview.md</a:t>
            </a:r>
            <a:endParaRPr lang="en-US" altLang="zh-CN"/>
          </a:p>
          <a:p>
            <a:r>
              <a:rPr lang="zh-CN" altLang="en-US"/>
              <a:t>- Harvest lifecycle boundary: linkagent/docs/harvest_cycle/ATOMIC_SKILLS_ROADMAP.md</a:t>
            </a:r>
            <a:endParaRPr lang="en-US" altLang="zh-CN"/>
          </a:p>
          <a:p>
            <a:r>
              <a:rPr lang="zh-CN" altLang="en-US"/>
              <a:t>[/Sources]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[Sources]</a:t>
            </a:r>
            <a:endParaRPr lang="en-US" altLang="zh-CN"/>
          </a:p>
          <a:p>
            <a:r>
              <a:rPr lang="zh-CN" altLang="en-US"/>
              <a:t>- Agent architecture and tool boundaries: linkagent/README.md</a:t>
            </a:r>
            <a:endParaRPr lang="en-US" altLang="zh-CN"/>
          </a:p>
          <a:p>
            <a:r>
              <a:rPr lang="zh-CN" altLang="en-US"/>
              <a:t>- Safety and gateway boundaries: linkagent/preview.md and C4-H hardware gateway task</a:t>
            </a:r>
            <a:endParaRPr lang="en-US" altLang="zh-CN"/>
          </a:p>
          <a:p>
            <a:r>
              <a:rPr lang="zh-CN" altLang="en-US"/>
              <a:t>[/Sources]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[Sources]</a:t>
            </a:r>
            <a:endParaRPr lang="en-US" altLang="zh-CN"/>
          </a:p>
          <a:p>
            <a:r>
              <a:rPr lang="zh-CN" altLang="en-US"/>
              <a:t>- Hardware and tactile baseline: PROJECT_TIMELINE_AND_EVIDENCE_20260818.md</a:t>
            </a:r>
            <a:endParaRPr lang="en-US" altLang="zh-CN"/>
          </a:p>
          <a:p>
            <a:r>
              <a:rPr lang="zh-CN" altLang="en-US"/>
              <a:t>- Device and gateway boundaries: C4-H_真机Vendor_Gateway任务书.md</a:t>
            </a:r>
            <a:endParaRPr lang="en-US" altLang="zh-CN"/>
          </a:p>
          <a:p>
            <a:r>
              <a:rPr lang="zh-CN" altLang="en-US"/>
              <a:t>- Raw tactile matrix contract: linkagent/README.md</a:t>
            </a:r>
            <a:endParaRPr lang="en-US" altLang="zh-CN"/>
          </a:p>
          <a:p>
            <a:r>
              <a:rPr lang="zh-CN" altLang="en-US"/>
              <a:t>[/Sources]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[Sources]</a:t>
            </a:r>
            <a:endParaRPr lang="en-US" altLang="zh-CN"/>
          </a:p>
          <a:p>
            <a:r>
              <a:rPr lang="zh-CN" altLang="en-US"/>
              <a:t>- PPO task boundary and observation/action contracts: linkagent/preview.md</a:t>
            </a:r>
            <a:endParaRPr lang="en-US" altLang="zh-CN"/>
          </a:p>
          <a:p>
            <a:r>
              <a:rPr lang="zh-CN" altLang="en-US"/>
              <a:t>- Isaac Sim acceptance and frozen policy boundary: linkagent/docs/harvest_cycle/ISAAC_SIM_ACCEPTANCE.md</a:t>
            </a:r>
            <a:endParaRPr lang="en-US" altLang="zh-CN"/>
          </a:p>
          <a:p>
            <a:r>
              <a:rPr lang="zh-CN" altLang="en-US"/>
              <a:t>- Physics-v1 and PhysX environment descriptions: linkagent/docs/tomato_pick/PHYSICS_V1_SHOWCASE.md and ppo_tomato_grasp_stage01_work/simulation/ppo_tomato_grasp/PHYSX_FINAL_TRAINING.md</a:t>
            </a:r>
            <a:endParaRPr lang="en-US" altLang="zh-CN"/>
          </a:p>
          <a:p>
            <a:r>
              <a:rPr lang="zh-CN" altLang="en-US"/>
              <a:t>[/Sources]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[Sources]</a:t>
            </a:r>
            <a:endParaRPr lang="en-US" altLang="zh-CN"/>
          </a:p>
          <a:p>
            <a:r>
              <a:rPr lang="zh-CN" altLang="en-US"/>
              <a:t>- Hand-only research objective: ppo_tomato_grasp_stage01_work/simulation/ppo_tomato_grasp/HAND_ONLY_TOMATO_PPO_PLAN.md</a:t>
            </a:r>
            <a:endParaRPr lang="en-US" altLang="zh-CN"/>
          </a:p>
          <a:p>
            <a:r>
              <a:rPr lang="zh-CN" altLang="en-US"/>
              <a:t>- Palm-supported five-finger scope and limitations: linkagent/docs/tomato_pick/enveloping_grasp_v2/FINAL_ENVELOPING_GRASP_REPORT.md</a:t>
            </a:r>
            <a:endParaRPr lang="en-US" altLang="zh-CN"/>
          </a:p>
          <a:p>
            <a:r>
              <a:rPr lang="zh-CN" altLang="en-US"/>
              <a:t>[/Sources]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[Sources]</a:t>
            </a:r>
            <a:endParaRPr lang="en-US" altLang="zh-CN"/>
          </a:p>
          <a:p>
            <a:r>
              <a:rPr lang="zh-CN" altLang="en-US"/>
              <a:t>- Current implementation and boundaries: linkagent/preview.md</a:t>
            </a:r>
            <a:endParaRPr lang="en-US" altLang="zh-CN"/>
          </a:p>
          <a:p>
            <a:r>
              <a:rPr lang="zh-CN" altLang="en-US"/>
              <a:t>- Hardware validation stages: C4-H_真机Vendor_Gateway任务书.md</a:t>
            </a:r>
            <a:endParaRPr lang="en-US" altLang="zh-CN"/>
          </a:p>
          <a:p>
            <a:r>
              <a:rPr lang="zh-CN" altLang="en-US"/>
              <a:t>- Project roadmap and evidence status: PROJECT_TIMELINE_AND_EVIDENCE_20260818.md</a:t>
            </a:r>
            <a:endParaRPr lang="en-US" altLang="zh-CN"/>
          </a:p>
          <a:p>
            <a:r>
              <a:rPr lang="zh-CN" altLang="en-US"/>
              <a:t>[/Sources]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[Sources]</a:t>
            </a:r>
            <a:endParaRPr lang="en-US" altLang="zh-CN"/>
          </a:p>
          <a:p>
            <a:r>
              <a:rPr lang="zh-CN" altLang="en-US"/>
              <a:t>- Collaboration directions synthesized from project roadmap, hardware gateway task, and tomato-pick research plans.</a:t>
            </a:r>
            <a:endParaRPr lang="en-US" altLang="zh-CN"/>
          </a:p>
          <a:p>
            <a:r>
              <a:rPr lang="zh-CN" altLang="en-US"/>
              <a:t>- No external photographs or claims are embedded on this page.</a:t>
            </a:r>
            <a:endParaRPr lang="en-US" altLang="zh-CN"/>
          </a:p>
          <a:p>
            <a:r>
              <a:rPr lang="zh-CN" altLang="en-US"/>
              <a:t>[/Sources]</a:t>
            </a:r>
            <a:endParaRPr lang="en-US" altLang="zh-CN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7C4E9E91-FCE7-4138-8DA2-1A1079A745F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</p:bodyStyle>
    <p:otherStyle>
      <a:lvl1pPr>
        <a:defRPr sz="1800">
          <a:solidFill>
            <a:schemeClr val="tx1"/>
          </a:solidFill>
          <a:latin typeface="Microsoft YaHei"/>
          <a:ea typeface="Microsoft YaHei"/>
          <a:cs typeface="Microsoft YaHe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cover-kicker"/>
          <p:cNvSpPr txBox="1"/>
          <p:nvPr/>
        </p:nvSpPr>
        <p:spPr>
          <a:xfrm>
            <a:off x="736600" y="736600"/>
            <a:ext cx="5334000" cy="3302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200" spc="2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RESEARCH PLATFORM  /  研究平台</a:t>
            </a:r>
          </a:p>
        </p:txBody>
      </p:sp>
      <p:sp>
        <p:nvSpPr>
          <p:cNvPr id="2" name="cover-rule"/>
          <p:cNvSpPr/>
          <p:nvPr/>
        </p:nvSpPr>
        <p:spPr>
          <a:xfrm>
            <a:off x="736600" y="1308100"/>
            <a:ext cx="279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cover-title"/>
          <p:cNvSpPr txBox="1"/>
          <p:nvPr/>
        </p:nvSpPr>
        <p:spPr>
          <a:xfrm>
            <a:off x="736600" y="1625600"/>
            <a:ext cx="6223000" cy="2336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b="1" sz="4200">
                <a:solidFill>
                  <a:schemeClr val="lt2"/>
                </a:solidFill>
                <a:latin typeface="Arial"/>
                <a:ea typeface="Microsoft YaHei"/>
                <a:cs typeface="Microsoft YaHei"/>
              </a:rPr>
              <a:t>LinkAgent</a:t>
            </a:r>
          </a:p>
          <a:p>
            <a:pPr algn="l">
              <a:lnSpc>
                <a:spcPct val="90000"/>
              </a:lnSpc>
            </a:pPr>
            <a:r>
              <a:rPr lang="zh-CN" b="1" sz="30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Safe, Tactile, Dexterous</a:t>
            </a:r>
          </a:p>
          <a:p>
            <a:pPr algn="l">
              <a:lnSpc>
                <a:spcPct val="90000"/>
              </a:lnSpc>
            </a:pPr>
            <a:r>
              <a:rPr lang="zh-CN" b="1" sz="30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Tomato Harvesting</a:t>
            </a:r>
          </a:p>
        </p:txBody>
      </p:sp>
      <p:sp>
        <p:nvSpPr>
          <p:cNvPr id="4" name="cover-cn"/>
          <p:cNvSpPr txBox="1"/>
          <p:nvPr/>
        </p:nvSpPr>
        <p:spPr>
          <a:xfrm>
            <a:off x="762000" y="4292600"/>
            <a:ext cx="5969000" cy="889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20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面向安全、触觉驱动的灵巧番茄采摘</a:t>
            </a:r>
          </a:p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From offline verification to future field deployment</a:t>
            </a:r>
          </a:p>
        </p:txBody>
      </p:sp>
      <p:sp>
        <p:nvSpPr>
          <p:cNvPr id="5" name="cover-photo-placeholder"/>
          <p:cNvSpPr/>
          <p:nvPr/>
        </p:nvSpPr>
        <p:spPr>
          <a:xfrm>
            <a:off x="7848600" y="863600"/>
            <a:ext cx="3632200" cy="4343400"/>
          </a:xfrm>
          <a:prstGeom prst="rect">
            <a:avLst/>
          </a:prstGeom>
          <a:solidFill>
            <a:srgbClr val="214E3C"/>
          </a:solidFill>
          <a:ln w="19050" cap="flat" cmpd="sng" algn="ctr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cover-photo-placeholder-text"/>
          <p:cNvSpPr txBox="1"/>
          <p:nvPr/>
        </p:nvSpPr>
        <p:spPr>
          <a:xfrm>
            <a:off x="8255000" y="2387600"/>
            <a:ext cx="2794000" cy="1397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12500"/>
              </a:lnSpc>
            </a:pPr>
            <a:r>
              <a:rPr lang="zh-CN" b="1" sz="16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PHOTO / VIDEO PLACEHOLDER</a:t>
            </a:r>
          </a:p>
          <a:p>
            <a:pPr algn="ctr">
              <a:lnSpc>
                <a:spcPct val="112500"/>
              </a:lnSpc>
            </a:pPr>
            <a:r>
              <a:rPr lang="zh-CN" sz="16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照片 / 视频占位</a:t>
            </a:r>
          </a:p>
          <a:p>
            <a:pPr algn="ctr">
              <a:lnSpc>
                <a:spcPct val="112500"/>
              </a:lnSpc>
            </a:pPr>
            <a:r>
              <a:rPr lang="zh-CN" sz="14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Insert project image here</a:t>
            </a:r>
          </a:p>
          <a:p>
            <a:pPr algn="ctr">
              <a:lnSpc>
                <a:spcPct val="112500"/>
              </a:lnSpc>
            </a:pPr>
            <a:r>
              <a:rPr lang="zh-CN" sz="14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此处替换项目实拍</a:t>
            </a:r>
          </a:p>
        </p:txBody>
      </p:sp>
      <p:sp>
        <p:nvSpPr>
          <p:cNvPr id="7" name="cover-meta"/>
          <p:cNvSpPr txBox="1"/>
          <p:nvPr/>
        </p:nvSpPr>
        <p:spPr>
          <a:xfrm>
            <a:off x="762000" y="6019800"/>
            <a:ext cx="9652000" cy="3556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4167"/>
              </a:lnSpc>
            </a:pPr>
            <a:r>
              <a:rPr lang="zh-CN" sz="12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LinkAgent  ·  Robotics / Tactile Sensing / Reinforcement Learning  ·  2026</a:t>
            </a:r>
          </a:p>
        </p:txBody>
      </p:sp>
      <p:sp>
        <p:nvSpPr>
          <p:cNvPr id="8" name="cover-page"/>
          <p:cNvSpPr txBox="1"/>
          <p:nvPr/>
        </p:nvSpPr>
        <p:spPr>
          <a:xfrm>
            <a:off x="11023600" y="6096000"/>
            <a:ext cx="457200" cy="254000"/>
          </a:xfrm>
          <a:prstGeom prst="rect">
            <a:avLst/>
          </a:prstGeom>
          <a:noFill/>
        </p:spPr>
        <p:txBody>
          <a:bodyPr lIns="0" tIns="0" rIns="0" bIns="0" wrap="none" anchor="ctr">
            <a:spAutoFit/>
          </a:bodyPr>
          <a:lstStyle/>
          <a:p>
            <a:pPr algn="r">
              <a:lnSpc>
                <a:spcPct val="104167"/>
              </a:lnSpc>
            </a:pPr>
            <a:r>
              <a:rPr lang="zh-CN" sz="12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2-top-rule"/>
          <p:cNvSpPr/>
          <p:nvPr/>
        </p:nvSpPr>
        <p:spPr>
          <a:xfrm>
            <a:off x="711200" y="279400"/>
            <a:ext cx="107696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p2-kicker"/>
          <p:cNvSpPr txBox="1"/>
          <p:nvPr/>
        </p:nvSpPr>
        <p:spPr>
          <a:xfrm>
            <a:off x="711200" y="482600"/>
            <a:ext cx="5334000" cy="2540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200" spc="2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01  /  THE PROBLEM  ·  问题</a:t>
            </a:r>
          </a:p>
        </p:txBody>
      </p:sp>
      <p:sp>
        <p:nvSpPr>
          <p:cNvPr id="3" name="p2-title"/>
          <p:cNvSpPr txBox="1"/>
          <p:nvPr/>
        </p:nvSpPr>
        <p:spPr>
          <a:xfrm>
            <a:off x="711200" y="812800"/>
            <a:ext cx="10541000" cy="6096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95833"/>
              </a:lnSpc>
            </a:pPr>
            <a:r>
              <a:rPr lang="zh-CN" b="1" sz="34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Tactile intelligence / 触觉驱动的无损采摘</a:t>
            </a:r>
          </a:p>
        </p:txBody>
      </p:sp>
      <p:sp>
        <p:nvSpPr>
          <p:cNvPr id="4" name="p2-statement"/>
          <p:cNvSpPr txBox="1"/>
          <p:nvPr/>
        </p:nvSpPr>
        <p:spPr>
          <a:xfrm>
            <a:off x="711200" y="1905000"/>
            <a:ext cx="5181600" cy="2667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b="1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Tomatoes are compliant, variable, and easily damaged.</a:t>
            </a:r>
          </a:p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番茄柔软、个体差异大，并且容易受到损伤。</a:t>
            </a:r>
          </a:p>
          <a:p>
            <a:pPr algn="l">
              <a:lnSpc>
                <a:spcPct val="112500"/>
              </a:lnSpc>
              <a:spcBef>
                <a:spcPts val="1400"/>
              </a:spcBef>
            </a:pPr>
            <a:r>
              <a:rPr lang="zh-CN" b="1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A robot must balance secure grasping, low pressure, and reliable detachment.</a:t>
            </a:r>
          </a:p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机器人必须同时平衡稳定抓取、低接触压力和可靠摘取。</a:t>
            </a:r>
          </a:p>
        </p:txBody>
      </p:sp>
      <p:cxnSp>
        <p:nvCxnSpPr>
          <p:cNvPr id="5" name="p2-flow-line"/>
          <p:cNvCxnSpPr/>
          <p:nvPr/>
        </p:nvCxnSpPr>
        <p:spPr>
          <a:xfrm rot="0">
            <a:off x="6527800" y="2679700"/>
            <a:ext cx="4673600" cy="0"/>
          </a:xfrm>
          <a:prstGeom prst="straightConnector1"/>
          <a:ln w="25400" cap="flat" cmpd="sng" algn="ctr">
            <a:solidFill>
              <a:srgbClr val="D6E0D7"/>
            </a:solidFill>
          </a:ln>
        </p:spPr>
      </p:cxnSp>
      <p:sp>
        <p:nvSpPr>
          <p:cNvPr id="6" name="p2-node1"/>
          <p:cNvSpPr/>
          <p:nvPr/>
        </p:nvSpPr>
        <p:spPr>
          <a:xfrm>
            <a:off x="6248400" y="2082800"/>
            <a:ext cx="1117600" cy="1117600"/>
          </a:xfrm>
          <a:prstGeom prst="ellipse">
            <a:avLst/>
          </a:prstGeom>
          <a:solidFill>
            <a:srgbClr val="DDEAE0"/>
          </a:solidFill>
          <a:ln w="1905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p2-node1-text"/>
          <p:cNvSpPr txBox="1"/>
          <p:nvPr/>
        </p:nvSpPr>
        <p:spPr>
          <a:xfrm>
            <a:off x="6324600" y="2374900"/>
            <a:ext cx="965200" cy="533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Perceive</a:t>
            </a:r>
            <a:br/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8" name="p2-node2"/>
          <p:cNvSpPr/>
          <p:nvPr/>
        </p:nvSpPr>
        <p:spPr>
          <a:xfrm>
            <a:off x="7543800" y="2082800"/>
            <a:ext cx="1117600" cy="1117600"/>
          </a:xfrm>
          <a:prstGeom prst="ellipse">
            <a:avLst/>
          </a:prstGeom>
          <a:solidFill>
            <a:srgbClr val="DDEAE0"/>
          </a:solidFill>
          <a:ln w="1905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p2-node2-text"/>
          <p:cNvSpPr txBox="1"/>
          <p:nvPr/>
        </p:nvSpPr>
        <p:spPr>
          <a:xfrm>
            <a:off x="7620000" y="2374900"/>
            <a:ext cx="965200" cy="533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Support</a:t>
            </a:r>
            <a:br/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托举</a:t>
            </a:r>
          </a:p>
        </p:txBody>
      </p:sp>
      <p:sp>
        <p:nvSpPr>
          <p:cNvPr id="10" name="p2-node3"/>
          <p:cNvSpPr/>
          <p:nvPr/>
        </p:nvSpPr>
        <p:spPr>
          <a:xfrm>
            <a:off x="8839200" y="2082800"/>
            <a:ext cx="1117600" cy="1117600"/>
          </a:xfrm>
          <a:prstGeom prst="ellipse">
            <a:avLst/>
          </a:prstGeom>
          <a:solidFill>
            <a:srgbClr val="DDEAE0"/>
          </a:solidFill>
          <a:ln w="1905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p2-node3-text"/>
          <p:cNvSpPr txBox="1"/>
          <p:nvPr/>
        </p:nvSpPr>
        <p:spPr>
          <a:xfrm>
            <a:off x="8915400" y="2374900"/>
            <a:ext cx="965200" cy="533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Envelop</a:t>
            </a:r>
            <a:br/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包络</a:t>
            </a:r>
          </a:p>
        </p:txBody>
      </p:sp>
      <p:sp>
        <p:nvSpPr>
          <p:cNvPr id="12" name="p2-node4"/>
          <p:cNvSpPr/>
          <p:nvPr/>
        </p:nvSpPr>
        <p:spPr>
          <a:xfrm>
            <a:off x="10134600" y="2082800"/>
            <a:ext cx="1117600" cy="1117600"/>
          </a:xfrm>
          <a:prstGeom prst="ellipse">
            <a:avLst/>
          </a:prstGeom>
          <a:solidFill>
            <a:srgbClr val="DDEAE0"/>
          </a:solidFill>
          <a:ln w="1905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p2-node4-text"/>
          <p:cNvSpPr txBox="1"/>
          <p:nvPr/>
        </p:nvSpPr>
        <p:spPr>
          <a:xfrm>
            <a:off x="10210800" y="2374900"/>
            <a:ext cx="965200" cy="533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Verify</a:t>
            </a:r>
            <a:br/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验证</a:t>
            </a:r>
          </a:p>
        </p:txBody>
      </p:sp>
      <p:cxnSp>
        <p:nvCxnSpPr>
          <p:cNvPr id="14" name="p2-arrow1"/>
          <p:cNvCxnSpPr/>
          <p:nvPr/>
        </p:nvCxnSpPr>
        <p:spPr>
          <a:xfrm rot="0">
            <a:off x="7264400" y="2654300"/>
            <a:ext cx="279400" cy="0"/>
          </a:xfrm>
          <a:prstGeom prst="straightConnector1"/>
          <a:ln w="1905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15" name="p2-arrow2"/>
          <p:cNvCxnSpPr/>
          <p:nvPr/>
        </p:nvCxnSpPr>
        <p:spPr>
          <a:xfrm rot="0">
            <a:off x="8559800" y="2654300"/>
            <a:ext cx="279400" cy="0"/>
          </a:xfrm>
          <a:prstGeom prst="straightConnector1"/>
          <a:ln w="1905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16" name="p2-arrow3"/>
          <p:cNvCxnSpPr/>
          <p:nvPr/>
        </p:nvCxnSpPr>
        <p:spPr>
          <a:xfrm rot="0">
            <a:off x="9855200" y="2654300"/>
            <a:ext cx="279400" cy="0"/>
          </a:xfrm>
          <a:prstGeom prst="straightConnector1"/>
          <a:ln w="19050" cap="flat" cmpd="sng" algn="ctr">
            <a:solidFill>
              <a:schemeClr val="accent1"/>
            </a:solidFill>
            <a:tailEnd type="triangle" w="med" len="med"/>
          </a:ln>
        </p:spPr>
      </p:cxnSp>
      <p:sp>
        <p:nvSpPr>
          <p:cNvPr id="17" name="p2-flow-caption"/>
          <p:cNvSpPr txBox="1"/>
          <p:nvPr/>
        </p:nvSpPr>
        <p:spPr>
          <a:xfrm>
            <a:off x="6248400" y="3530600"/>
            <a:ext cx="5080000" cy="1219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b="1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Secure grasping</a:t>
            </a: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 xml:space="preserve">  稳定抓取</a:t>
            </a:r>
          </a:p>
          <a:p>
            <a:pPr algn="l">
              <a:lnSpc>
                <a:spcPct val="112500"/>
              </a:lnSpc>
            </a:pPr>
            <a:r>
              <a:rPr lang="zh-CN" b="1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Low contact pressure</a:t>
            </a: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 xml:space="preserve">  低接触压力</a:t>
            </a:r>
          </a:p>
          <a:p>
            <a:pPr algn="l">
              <a:lnSpc>
                <a:spcPct val="112500"/>
              </a:lnSpc>
            </a:pPr>
            <a:r>
              <a:rPr lang="zh-CN" b="1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Reliable detachment</a:t>
            </a: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 xml:space="preserve">  可靠摘取</a:t>
            </a:r>
          </a:p>
        </p:txBody>
      </p:sp>
      <p:cxnSp>
        <p:nvCxnSpPr>
          <p:cNvPr id="18" name="p2-bottom-rule"/>
          <p:cNvCxnSpPr/>
          <p:nvPr/>
        </p:nvCxnSpPr>
        <p:spPr>
          <a:xfrm rot="0">
            <a:off x="711200" y="5568950"/>
            <a:ext cx="10769600" cy="0"/>
          </a:xfrm>
          <a:prstGeom prst="straightConnector1"/>
          <a:ln w="12700" cap="flat" cmpd="sng" algn="ctr">
            <a:solidFill>
              <a:srgbClr val="D6E0D7"/>
            </a:solidFill>
          </a:ln>
        </p:spPr>
      </p:cxnSp>
      <p:sp>
        <p:nvSpPr>
          <p:cNvPr id="19" name="p2-bottom-note"/>
          <p:cNvSpPr txBox="1"/>
          <p:nvPr/>
        </p:nvSpPr>
        <p:spPr>
          <a:xfrm>
            <a:off x="711200" y="5765800"/>
            <a:ext cx="9144000" cy="4318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Tomato first; broader agricultural manipulation next. / 以番茄为起点，面向更广泛的农业操作。</a:t>
            </a:r>
          </a:p>
        </p:txBody>
      </p:sp>
      <p:sp>
        <p:nvSpPr>
          <p:cNvPr id="20" name="p2-page"/>
          <p:cNvSpPr txBox="1"/>
          <p:nvPr/>
        </p:nvSpPr>
        <p:spPr>
          <a:xfrm>
            <a:off x="11023600" y="6096000"/>
            <a:ext cx="457200" cy="254000"/>
          </a:xfrm>
          <a:prstGeom prst="rect">
            <a:avLst/>
          </a:prstGeom>
          <a:noFill/>
        </p:spPr>
        <p:txBody>
          <a:bodyPr lIns="0" tIns="0" rIns="0" bIns="0" wrap="none" anchor="ctr">
            <a:spAutoFit/>
          </a:bodyPr>
          <a:lstStyle/>
          <a:p>
            <a:pPr algn="r">
              <a:lnSpc>
                <a:spcPct val="104167"/>
              </a:lnSpc>
            </a:pPr>
            <a:r>
              <a:rPr lang="zh-CN" sz="12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3-top-rule"/>
          <p:cNvSpPr/>
          <p:nvPr/>
        </p:nvSpPr>
        <p:spPr>
          <a:xfrm>
            <a:off x="711200" y="279400"/>
            <a:ext cx="107696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p3-kicker"/>
          <p:cNvSpPr txBox="1"/>
          <p:nvPr/>
        </p:nvSpPr>
        <p:spPr>
          <a:xfrm>
            <a:off x="711200" y="482600"/>
            <a:ext cx="5334000" cy="2540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200" spc="2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02  /  SYSTEM LOGIC  ·  系统逻辑</a:t>
            </a:r>
          </a:p>
        </p:txBody>
      </p:sp>
      <p:sp>
        <p:nvSpPr>
          <p:cNvPr id="3" name="p3-title"/>
          <p:cNvSpPr txBox="1"/>
          <p:nvPr/>
        </p:nvSpPr>
        <p:spPr>
          <a:xfrm>
            <a:off x="711200" y="812800"/>
            <a:ext cx="10541000" cy="6096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95833"/>
              </a:lnSpc>
            </a:pPr>
            <a:r>
              <a:rPr lang="zh-CN" b="1" sz="34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Bounded agent–robot loop / 安全边界下的闭环</a:t>
            </a:r>
          </a:p>
        </p:txBody>
      </p:sp>
      <p:sp>
        <p:nvSpPr>
          <p:cNvPr id="4" name="p3-input-label"/>
          <p:cNvSpPr txBox="1"/>
          <p:nvPr/>
        </p:nvSpPr>
        <p:spPr>
          <a:xfrm>
            <a:off x="762000" y="1676400"/>
            <a:ext cx="10414000" cy="3048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Inputs: RGB-D, robot state, tactile observations, task context  /  输入：RGB-D、机器人状态、触觉观测与任务上下文</a:t>
            </a:r>
          </a:p>
        </p:txBody>
      </p:sp>
      <p:sp>
        <p:nvSpPr>
          <p:cNvPr id="5" name="p3-box1"/>
          <p:cNvSpPr/>
          <p:nvPr/>
        </p:nvSpPr>
        <p:spPr>
          <a:xfrm>
            <a:off x="711200" y="2336800"/>
            <a:ext cx="2133600" cy="1498600"/>
          </a:xfrm>
          <a:prstGeom prst="rect">
            <a:avLst/>
          </a:prstGeom>
          <a:solidFill>
            <a:srgbClr val="EFF5F0"/>
          </a:solidFill>
          <a:ln w="1524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p3-box1-text"/>
          <p:cNvSpPr txBox="1"/>
          <p:nvPr/>
        </p:nvSpPr>
        <p:spPr>
          <a:xfrm>
            <a:off x="889000" y="2590800"/>
            <a:ext cx="1778000" cy="9906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b="1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Perception</a:t>
            </a:r>
          </a:p>
          <a:p>
            <a:pPr algn="ctr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感知与目标理解</a:t>
            </a:r>
          </a:p>
          <a:p>
            <a:pPr algn="ctr">
              <a:lnSpc>
                <a:spcPct val="100000"/>
              </a:lnSpc>
            </a:pPr>
            <a:r>
              <a:rPr lang="zh-CN" sz="13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RGB-D / tactile</a:t>
            </a:r>
          </a:p>
        </p:txBody>
      </p:sp>
      <p:sp>
        <p:nvSpPr>
          <p:cNvPr id="7" name="p3-box2"/>
          <p:cNvSpPr/>
          <p:nvPr/>
        </p:nvSpPr>
        <p:spPr>
          <a:xfrm>
            <a:off x="3352800" y="2336800"/>
            <a:ext cx="2133600" cy="1498600"/>
          </a:xfrm>
          <a:prstGeom prst="rect">
            <a:avLst/>
          </a:prstGeom>
          <a:solidFill>
            <a:srgbClr val="EFF5F0"/>
          </a:solidFill>
          <a:ln w="1524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p3-box2-text"/>
          <p:cNvSpPr txBox="1"/>
          <p:nvPr/>
        </p:nvSpPr>
        <p:spPr>
          <a:xfrm>
            <a:off x="3530600" y="2590800"/>
            <a:ext cx="1778000" cy="9906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b="1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TopAgent</a:t>
            </a:r>
          </a:p>
          <a:p>
            <a:pPr algn="ctr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任务级决策</a:t>
            </a:r>
          </a:p>
          <a:p>
            <a:pPr algn="ctr">
              <a:lnSpc>
                <a:spcPct val="100000"/>
              </a:lnSpc>
            </a:pPr>
            <a:r>
              <a:rPr lang="zh-CN" sz="13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bounded tools</a:t>
            </a:r>
          </a:p>
        </p:txBody>
      </p:sp>
      <p:sp>
        <p:nvSpPr>
          <p:cNvPr id="9" name="p3-box3"/>
          <p:cNvSpPr/>
          <p:nvPr/>
        </p:nvSpPr>
        <p:spPr>
          <a:xfrm>
            <a:off x="5994400" y="2336800"/>
            <a:ext cx="2133600" cy="1498600"/>
          </a:xfrm>
          <a:prstGeom prst="rect">
            <a:avLst/>
          </a:prstGeom>
          <a:solidFill>
            <a:srgbClr val="EFF5F0"/>
          </a:solidFill>
          <a:ln w="1524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p3-box3-text"/>
          <p:cNvSpPr txBox="1"/>
          <p:nvPr/>
        </p:nvSpPr>
        <p:spPr>
          <a:xfrm>
            <a:off x="6172200" y="2590800"/>
            <a:ext cx="1778000" cy="9906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b="1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Atomic Skills</a:t>
            </a:r>
          </a:p>
          <a:p>
            <a:pPr algn="ctr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原子技能执行</a:t>
            </a:r>
          </a:p>
          <a:p>
            <a:pPr algn="ctr">
              <a:lnSpc>
                <a:spcPct val="100000"/>
              </a:lnSpc>
            </a:pPr>
            <a:r>
              <a:rPr lang="zh-CN" sz="13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limits / watchdog</a:t>
            </a:r>
          </a:p>
        </p:txBody>
      </p:sp>
      <p:sp>
        <p:nvSpPr>
          <p:cNvPr id="11" name="p3-box4"/>
          <p:cNvSpPr/>
          <p:nvPr/>
        </p:nvSpPr>
        <p:spPr>
          <a:xfrm>
            <a:off x="8636000" y="2336800"/>
            <a:ext cx="2133600" cy="1498600"/>
          </a:xfrm>
          <a:prstGeom prst="rect">
            <a:avLst/>
          </a:prstGeom>
          <a:solidFill>
            <a:srgbClr val="EFF5F0"/>
          </a:solidFill>
          <a:ln w="1524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p3-box4-text"/>
          <p:cNvSpPr txBox="1"/>
          <p:nvPr/>
        </p:nvSpPr>
        <p:spPr>
          <a:xfrm>
            <a:off x="8813800" y="2590800"/>
            <a:ext cx="1778000" cy="9906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b="1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Verifier</a:t>
            </a:r>
          </a:p>
          <a:p>
            <a:pPr algn="ctr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独立结果验收</a:t>
            </a:r>
          </a:p>
          <a:p>
            <a:pPr algn="ctr">
              <a:lnSpc>
                <a:spcPct val="100000"/>
              </a:lnSpc>
            </a:pPr>
            <a:r>
              <a:rPr lang="zh-CN" sz="13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pass / fail / observe</a:t>
            </a:r>
          </a:p>
        </p:txBody>
      </p:sp>
      <p:cxnSp>
        <p:nvCxnSpPr>
          <p:cNvPr id="13" name="p3-arrow1"/>
          <p:cNvCxnSpPr/>
          <p:nvPr/>
        </p:nvCxnSpPr>
        <p:spPr>
          <a:xfrm rot="0">
            <a:off x="2844800" y="3086100"/>
            <a:ext cx="508000" cy="0"/>
          </a:xfrm>
          <a:prstGeom prst="straightConnector1"/>
          <a:ln w="2032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14" name="p3-arrow2"/>
          <p:cNvCxnSpPr/>
          <p:nvPr/>
        </p:nvCxnSpPr>
        <p:spPr>
          <a:xfrm rot="0">
            <a:off x="5486400" y="3086100"/>
            <a:ext cx="508000" cy="0"/>
          </a:xfrm>
          <a:prstGeom prst="straightConnector1"/>
          <a:ln w="20320" cap="flat" cmpd="sng" algn="ctr">
            <a:solidFill>
              <a:schemeClr val="accent1"/>
            </a:solidFill>
            <a:tailEnd type="triangle" w="med" len="med"/>
          </a:ln>
        </p:spPr>
      </p:cxnSp>
      <p:cxnSp>
        <p:nvCxnSpPr>
          <p:cNvPr id="15" name="p3-arrow3"/>
          <p:cNvCxnSpPr/>
          <p:nvPr/>
        </p:nvCxnSpPr>
        <p:spPr>
          <a:xfrm rot="0">
            <a:off x="8128000" y="3086100"/>
            <a:ext cx="508000" cy="0"/>
          </a:xfrm>
          <a:prstGeom prst="straightConnector1"/>
          <a:ln w="20320" cap="flat" cmpd="sng" algn="ctr">
            <a:solidFill>
              <a:schemeClr val="accent1"/>
            </a:solidFill>
            <a:tailEnd type="triangle" w="med" len="med"/>
          </a:ln>
        </p:spPr>
      </p:cxnSp>
      <p:sp>
        <p:nvSpPr>
          <p:cNvPr id="16" name="p3-feedback"/>
          <p:cNvSpPr/>
          <p:nvPr/>
        </p:nvSpPr>
        <p:spPr>
          <a:xfrm>
            <a:off x="5715000" y="4216400"/>
            <a:ext cx="2921000" cy="431800"/>
          </a:xfrm>
          <a:custGeom>
            <a:avLst/>
            <a:gdLst/>
            <a:ahLst/>
            <a:cxnLst/>
            <a:rect l="0" t="0" r="1" b="1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</a:path>
            </a:pathLst>
          </a:custGeom>
          <a:noFill/>
          <a:ln w="15240" cap="flat" cmpd="sng" algn="ctr">
            <a:solidFill>
              <a:schemeClr val="accent2"/>
            </a:solidFill>
            <a:prstDash val="dash"/>
            <a:tailEnd type="triangle" w="med" len="med"/>
          </a:ln>
        </p:spPr>
        <p:txBody>
          <a:bodyPr/>
          <a:lstStyle/>
          <a:p>
            <a:pPr algn="ctr"/>
          </a:p>
        </p:txBody>
      </p:sp>
      <p:sp>
        <p:nvSpPr>
          <p:cNvPr id="17" name="p3-feedback-label"/>
          <p:cNvSpPr txBox="1"/>
          <p:nvPr/>
        </p:nvSpPr>
        <p:spPr>
          <a:xfrm>
            <a:off x="3810000" y="4140200"/>
            <a:ext cx="3810000" cy="279400"/>
          </a:xfrm>
          <a:prstGeom prst="rect">
            <a:avLst/>
          </a:prstGeom>
          <a:noFill/>
        </p:spPr>
        <p:txBody>
          <a:bodyPr lIns="0" tIns="0" rIns="0" bIns="0" wrap="none" anchor="ctr">
            <a:spAutoFit/>
          </a:bodyPr>
          <a:lstStyle/>
          <a:p>
            <a:pPr algn="ctr">
              <a:lnSpc>
                <a:spcPct val="104167"/>
              </a:lnSpc>
            </a:pPr>
            <a:r>
              <a:rPr lang="zh-CN" sz="12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failure → observe again / 失败时回到观测</a:t>
            </a:r>
          </a:p>
        </p:txBody>
      </p:sp>
      <p:cxnSp>
        <p:nvCxnSpPr>
          <p:cNvPr id="18" name="p3-safety-rule"/>
          <p:cNvCxnSpPr/>
          <p:nvPr/>
        </p:nvCxnSpPr>
        <p:spPr>
          <a:xfrm rot="0">
            <a:off x="711200" y="5219700"/>
            <a:ext cx="107696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19" name="p3-safety-label"/>
          <p:cNvSpPr txBox="1"/>
          <p:nvPr/>
        </p:nvSpPr>
        <p:spPr>
          <a:xfrm>
            <a:off x="711200" y="5410200"/>
            <a:ext cx="10769600" cy="5842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b="1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Hardware boundary / 真机边界：</a:t>
            </a: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 xml:space="preserve"> explicit opt-in · shadow FK/IK · motion limits · emergency stop</a:t>
            </a:r>
          </a:p>
          <a:p>
            <a:pPr algn="l">
              <a:lnSpc>
                <a:spcPct val="112500"/>
              </a:lnSpc>
            </a:pPr>
            <a:r>
              <a:rPr lang="zh-CN" sz="15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真机执行需要显式授权、Shadow 验证、运动限制和急停保护。</a:t>
            </a:r>
          </a:p>
        </p:txBody>
      </p:sp>
      <p:sp>
        <p:nvSpPr>
          <p:cNvPr id="20" name="p3-page"/>
          <p:cNvSpPr txBox="1"/>
          <p:nvPr/>
        </p:nvSpPr>
        <p:spPr>
          <a:xfrm>
            <a:off x="11023600" y="6096000"/>
            <a:ext cx="457200" cy="254000"/>
          </a:xfrm>
          <a:prstGeom prst="rect">
            <a:avLst/>
          </a:prstGeom>
          <a:noFill/>
        </p:spPr>
        <p:txBody>
          <a:bodyPr lIns="0" tIns="0" rIns="0" bIns="0" wrap="none" anchor="ctr">
            <a:spAutoFit/>
          </a:bodyPr>
          <a:lstStyle/>
          <a:p>
            <a:pPr algn="r">
              <a:lnSpc>
                <a:spcPct val="104167"/>
              </a:lnSpc>
            </a:pPr>
            <a:r>
              <a:rPr lang="zh-CN" sz="12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4-top-rule"/>
          <p:cNvSpPr/>
          <p:nvPr/>
        </p:nvSpPr>
        <p:spPr>
          <a:xfrm>
            <a:off x="711200" y="279400"/>
            <a:ext cx="107696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p4-kicker"/>
          <p:cNvSpPr txBox="1"/>
          <p:nvPr/>
        </p:nvSpPr>
        <p:spPr>
          <a:xfrm>
            <a:off x="711200" y="482600"/>
            <a:ext cx="5334000" cy="2540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200" spc="2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03  /  PLATFORM  ·  硬件平台</a:t>
            </a:r>
          </a:p>
        </p:txBody>
      </p:sp>
      <p:sp>
        <p:nvSpPr>
          <p:cNvPr id="3" name="p4-title"/>
          <p:cNvSpPr txBox="1"/>
          <p:nvPr/>
        </p:nvSpPr>
        <p:spPr>
          <a:xfrm>
            <a:off x="711200" y="812800"/>
            <a:ext cx="10541000" cy="6096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95833"/>
              </a:lnSpc>
            </a:pPr>
            <a:r>
              <a:rPr lang="zh-CN" b="1" sz="34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Robot and tactile foundation / 机器人与触觉基础设施</a:t>
            </a:r>
          </a:p>
        </p:txBody>
      </p:sp>
      <p:sp>
        <p:nvSpPr>
          <p:cNvPr id="4" name="p4-photo-placeholder"/>
          <p:cNvSpPr/>
          <p:nvPr/>
        </p:nvSpPr>
        <p:spPr>
          <a:xfrm>
            <a:off x="711200" y="1803400"/>
            <a:ext cx="4775200" cy="3530600"/>
          </a:xfrm>
          <a:prstGeom prst="rect">
            <a:avLst/>
          </a:prstGeom>
          <a:solidFill>
            <a:srgbClr val="EFF5F0"/>
          </a:solidFill>
          <a:ln w="19050" cap="flat" cmpd="sng" algn="ctr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p4-photo-placeholder-text"/>
          <p:cNvSpPr txBox="1"/>
          <p:nvPr/>
        </p:nvSpPr>
        <p:spPr>
          <a:xfrm>
            <a:off x="1168400" y="3048000"/>
            <a:ext cx="3860800" cy="10414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12500"/>
              </a:lnSpc>
            </a:pPr>
            <a:r>
              <a:rPr lang="zh-CN" b="1" sz="16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HARDWARE PHOTO PLACEHOLDER</a:t>
            </a:r>
          </a:p>
          <a:p>
            <a:pPr algn="ctr">
              <a:lnSpc>
                <a:spcPct val="112500"/>
              </a:lnSpc>
            </a:pPr>
            <a:r>
              <a:rPr lang="zh-CN" sz="16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硬件照片占位</a:t>
            </a:r>
          </a:p>
          <a:p>
            <a:pPr algn="ctr">
              <a:lnSpc>
                <a:spcPct val="112500"/>
              </a:lnSpc>
            </a:pPr>
            <a:r>
              <a:rPr lang="zh-CN" sz="14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Insert dual-arm / dexterous-hand photo</a:t>
            </a:r>
          </a:p>
        </p:txBody>
      </p:sp>
      <p:sp>
        <p:nvSpPr>
          <p:cNvPr id="6" name="p4-heading"/>
          <p:cNvSpPr txBox="1"/>
          <p:nvPr/>
        </p:nvSpPr>
        <p:spPr>
          <a:xfrm>
            <a:off x="6248400" y="1778000"/>
            <a:ext cx="4826000" cy="4572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Contact-rich manipulation / 面向复杂接触操作</a:t>
            </a:r>
          </a:p>
        </p:txBody>
      </p:sp>
      <p:cxnSp>
        <p:nvCxnSpPr>
          <p:cNvPr id="7" name="p4-line1"/>
          <p:cNvCxnSpPr/>
          <p:nvPr/>
        </p:nvCxnSpPr>
        <p:spPr>
          <a:xfrm rot="0">
            <a:off x="6248400" y="2520950"/>
            <a:ext cx="4749800" cy="0"/>
          </a:xfrm>
          <a:prstGeom prst="straightConnector1"/>
          <a:ln w="12700" cap="flat" cmpd="sng" algn="ctr">
            <a:solidFill>
              <a:srgbClr val="D6E0D7"/>
            </a:solidFill>
          </a:ln>
        </p:spPr>
      </p:cxnSp>
      <p:sp>
        <p:nvSpPr>
          <p:cNvPr id="8" name="p4-text1"/>
          <p:cNvSpPr txBox="1"/>
          <p:nvPr/>
        </p:nvSpPr>
        <p:spPr>
          <a:xfrm>
            <a:off x="6248400" y="2743200"/>
            <a:ext cx="4927600" cy="812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b="1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Two 7-DoF robotic arms</a:t>
            </a:r>
          </a:p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两个 7 自由度机械臂，覆盖双臂操作空间。</a:t>
            </a:r>
          </a:p>
        </p:txBody>
      </p:sp>
      <p:cxnSp>
        <p:nvCxnSpPr>
          <p:cNvPr id="9" name="p4-line2"/>
          <p:cNvCxnSpPr/>
          <p:nvPr/>
        </p:nvCxnSpPr>
        <p:spPr>
          <a:xfrm rot="0">
            <a:off x="6248400" y="3765550"/>
            <a:ext cx="4749800" cy="0"/>
          </a:xfrm>
          <a:prstGeom prst="straightConnector1"/>
          <a:ln w="12700" cap="flat" cmpd="sng" algn="ctr">
            <a:solidFill>
              <a:srgbClr val="D6E0D7"/>
            </a:solidFill>
          </a:ln>
        </p:spPr>
      </p:cxnSp>
      <p:sp>
        <p:nvSpPr>
          <p:cNvPr id="10" name="p4-text2"/>
          <p:cNvSpPr txBox="1"/>
          <p:nvPr/>
        </p:nvSpPr>
        <p:spPr>
          <a:xfrm>
            <a:off x="6248400" y="3987800"/>
            <a:ext cx="4927600" cy="914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b="1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Two G20 dexterous hands</a:t>
            </a:r>
          </a:p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两只 G20 灵巧手，每只手提供 20 维逻辑状态/控制接口。</a:t>
            </a:r>
          </a:p>
        </p:txBody>
      </p:sp>
      <p:cxnSp>
        <p:nvCxnSpPr>
          <p:cNvPr id="11" name="p4-line3"/>
          <p:cNvCxnSpPr/>
          <p:nvPr/>
        </p:nvCxnSpPr>
        <p:spPr>
          <a:xfrm rot="0">
            <a:off x="6248400" y="5086350"/>
            <a:ext cx="4749800" cy="0"/>
          </a:xfrm>
          <a:prstGeom prst="straightConnector1"/>
          <a:ln w="12700" cap="flat" cmpd="sng" algn="ctr">
            <a:solidFill>
              <a:srgbClr val="D6E0D7"/>
            </a:solidFill>
          </a:ln>
        </p:spPr>
      </p:cxnSp>
      <p:sp>
        <p:nvSpPr>
          <p:cNvPr id="12" name="p4-text3"/>
          <p:cNvSpPr txBox="1"/>
          <p:nvPr/>
        </p:nvSpPr>
        <p:spPr>
          <a:xfrm>
            <a:off x="6248400" y="5308600"/>
            <a:ext cx="4927600" cy="685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b="1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Five tactile matrices per hand</a:t>
            </a:r>
          </a:p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每只手五个 12 × 6 触觉矩阵，保留原始空间信息。</a:t>
            </a:r>
          </a:p>
        </p:txBody>
      </p:sp>
      <p:sp>
        <p:nvSpPr>
          <p:cNvPr id="13" name="p4-callout"/>
          <p:cNvSpPr/>
          <p:nvPr/>
        </p:nvSpPr>
        <p:spPr>
          <a:xfrm>
            <a:off x="711200" y="5892800"/>
            <a:ext cx="10769600" cy="482600"/>
          </a:xfrm>
          <a:prstGeom prst="rect">
            <a:avLst/>
          </a:prstGeom>
          <a:solidFill>
            <a:srgbClr val="DDEAE0"/>
          </a:solidFill>
          <a:ln w="10160" cap="flat" cmpd="sng" algn="ctr">
            <a:solidFill>
              <a:srgbClr val="DDEA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p4-callout-text"/>
          <p:cNvSpPr txBox="1"/>
          <p:nvPr/>
        </p:nvSpPr>
        <p:spPr>
          <a:xfrm>
            <a:off x="914400" y="5981700"/>
            <a:ext cx="9906000" cy="3048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173B2D"/>
                </a:solidFill>
                <a:latin typeface="Arial"/>
                <a:ea typeface="Microsoft YaHei"/>
                <a:cs typeface="Microsoft YaHei"/>
              </a:rPr>
              <a:t>Boundary / 边界：raw tactile values available; force calibration pending. / 原始触觉可读，力值标定待完成。</a:t>
            </a:r>
          </a:p>
        </p:txBody>
      </p:sp>
      <p:sp>
        <p:nvSpPr>
          <p:cNvPr id="15" name="p4-page"/>
          <p:cNvSpPr txBox="1"/>
          <p:nvPr/>
        </p:nvSpPr>
        <p:spPr>
          <a:xfrm>
            <a:off x="11023600" y="6096000"/>
            <a:ext cx="457200" cy="254000"/>
          </a:xfrm>
          <a:prstGeom prst="rect">
            <a:avLst/>
          </a:prstGeom>
          <a:noFill/>
        </p:spPr>
        <p:txBody>
          <a:bodyPr lIns="0" tIns="0" rIns="0" bIns="0" wrap="none" anchor="ctr">
            <a:spAutoFit/>
          </a:bodyPr>
          <a:lstStyle/>
          <a:p>
            <a:pPr algn="r">
              <a:lnSpc>
                <a:spcPct val="104167"/>
              </a:lnSpc>
            </a:pPr>
            <a:r>
              <a:rPr lang="zh-CN" sz="12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5-top-rule"/>
          <p:cNvSpPr/>
          <p:nvPr/>
        </p:nvSpPr>
        <p:spPr>
          <a:xfrm>
            <a:off x="711200" y="279400"/>
            <a:ext cx="107696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p5-kicker"/>
          <p:cNvSpPr txBox="1"/>
          <p:nvPr/>
        </p:nvSpPr>
        <p:spPr>
          <a:xfrm>
            <a:off x="711200" y="482600"/>
            <a:ext cx="5334000" cy="2540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200" spc="2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04  /  LEARNING LOOP  ·  学习闭环</a:t>
            </a:r>
          </a:p>
        </p:txBody>
      </p:sp>
      <p:sp>
        <p:nvSpPr>
          <p:cNvPr id="3" name="p5-title"/>
          <p:cNvSpPr txBox="1"/>
          <p:nvPr/>
        </p:nvSpPr>
        <p:spPr>
          <a:xfrm>
            <a:off x="711200" y="812800"/>
            <a:ext cx="10541000" cy="6096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95833"/>
              </a:lnSpc>
            </a:pPr>
            <a:r>
              <a:rPr lang="zh-CN" b="1" sz="34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Contact-rich learning / 复杂接触学习</a:t>
            </a:r>
          </a:p>
        </p:txBody>
      </p:sp>
      <p:sp>
        <p:nvSpPr>
          <p:cNvPr id="4" name="p5-step1"/>
          <p:cNvSpPr/>
          <p:nvPr/>
        </p:nvSpPr>
        <p:spPr>
          <a:xfrm>
            <a:off x="711200" y="2032000"/>
            <a:ext cx="5969000" cy="711200"/>
          </a:xfrm>
          <a:prstGeom prst="rect">
            <a:avLst/>
          </a:prstGeom>
          <a:solidFill>
            <a:srgbClr val="EFF5F0"/>
          </a:solidFill>
          <a:ln w="127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p5-step1-text"/>
          <p:cNvSpPr txBox="1"/>
          <p:nvPr/>
        </p:nvSpPr>
        <p:spPr>
          <a:xfrm>
            <a:off x="965200" y="2184400"/>
            <a:ext cx="5461000" cy="4064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URDF / USD  →  geometry &amp; limits  /  几何与关节边界</a:t>
            </a:r>
          </a:p>
        </p:txBody>
      </p:sp>
      <p:sp>
        <p:nvSpPr>
          <p:cNvPr id="6" name="p5-step2"/>
          <p:cNvSpPr/>
          <p:nvPr/>
        </p:nvSpPr>
        <p:spPr>
          <a:xfrm>
            <a:off x="711200" y="2997200"/>
            <a:ext cx="5969000" cy="711200"/>
          </a:xfrm>
          <a:prstGeom prst="rect">
            <a:avLst/>
          </a:prstGeom>
          <a:solidFill>
            <a:srgbClr val="EFF5F0"/>
          </a:solidFill>
          <a:ln w="127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p5-step2-text"/>
          <p:cNvSpPr txBox="1"/>
          <p:nvPr/>
        </p:nvSpPr>
        <p:spPr>
          <a:xfrm>
            <a:off x="965200" y="3149600"/>
            <a:ext cx="5461000" cy="4064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PhysX  →  friction, compliance, retention  /  摩擦、柔顺、保持</a:t>
            </a:r>
          </a:p>
        </p:txBody>
      </p:sp>
      <p:sp>
        <p:nvSpPr>
          <p:cNvPr id="8" name="p5-step3"/>
          <p:cNvSpPr/>
          <p:nvPr/>
        </p:nvSpPr>
        <p:spPr>
          <a:xfrm>
            <a:off x="711200" y="3962400"/>
            <a:ext cx="5969000" cy="711200"/>
          </a:xfrm>
          <a:prstGeom prst="rect">
            <a:avLst/>
          </a:prstGeom>
          <a:solidFill>
            <a:srgbClr val="EFF5F0"/>
          </a:solidFill>
          <a:ln w="127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p5-step3-text"/>
          <p:cNvSpPr txBox="1"/>
          <p:nvPr/>
        </p:nvSpPr>
        <p:spPr>
          <a:xfrm>
            <a:off x="965200" y="4114800"/>
            <a:ext cx="5461000" cy="4064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PPO  →  adaptive actions  /  PPO → 自适应动作</a:t>
            </a:r>
          </a:p>
        </p:txBody>
      </p:sp>
      <p:sp>
        <p:nvSpPr>
          <p:cNvPr id="10" name="p5-step4"/>
          <p:cNvSpPr/>
          <p:nvPr/>
        </p:nvSpPr>
        <p:spPr>
          <a:xfrm>
            <a:off x="711200" y="4927600"/>
            <a:ext cx="5969000" cy="711200"/>
          </a:xfrm>
          <a:prstGeom prst="rect">
            <a:avLst/>
          </a:prstGeom>
          <a:solidFill>
            <a:srgbClr val="EFF5F0"/>
          </a:solidFill>
          <a:ln w="12700" cap="flat" cmpd="sng" algn="ctr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p5-step4-text"/>
          <p:cNvSpPr txBox="1"/>
          <p:nvPr/>
        </p:nvSpPr>
        <p:spPr>
          <a:xfrm>
            <a:off x="965200" y="5080000"/>
            <a:ext cx="5461000" cy="4064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Replay + verifier  →  evidence  /  回放与验证 → 证据</a:t>
            </a:r>
          </a:p>
        </p:txBody>
      </p:sp>
      <p:cxnSp>
        <p:nvCxnSpPr>
          <p:cNvPr id="12" name="p5-arrow1"/>
          <p:cNvCxnSpPr/>
          <p:nvPr/>
        </p:nvCxnSpPr>
        <p:spPr>
          <a:xfrm rot="5400000">
            <a:off x="3378200" y="2870200"/>
            <a:ext cx="254000" cy="0"/>
          </a:xfrm>
          <a:prstGeom prst="straightConnector1"/>
          <a:ln w="15240" cap="flat" cmpd="sng" algn="ctr">
            <a:solidFill>
              <a:schemeClr val="accent2"/>
            </a:solidFill>
            <a:tailEnd type="triangle" w="med" len="med"/>
          </a:ln>
        </p:spPr>
      </p:cxnSp>
      <p:cxnSp>
        <p:nvCxnSpPr>
          <p:cNvPr id="13" name="p5-arrow2"/>
          <p:cNvCxnSpPr/>
          <p:nvPr/>
        </p:nvCxnSpPr>
        <p:spPr>
          <a:xfrm rot="5400000">
            <a:off x="3378200" y="3835400"/>
            <a:ext cx="254000" cy="0"/>
          </a:xfrm>
          <a:prstGeom prst="straightConnector1"/>
          <a:ln w="15240" cap="flat" cmpd="sng" algn="ctr">
            <a:solidFill>
              <a:schemeClr val="accent2"/>
            </a:solidFill>
            <a:tailEnd type="triangle" w="med" len="med"/>
          </a:ln>
        </p:spPr>
      </p:cxnSp>
      <p:cxnSp>
        <p:nvCxnSpPr>
          <p:cNvPr id="14" name="p5-arrow3"/>
          <p:cNvCxnSpPr/>
          <p:nvPr/>
        </p:nvCxnSpPr>
        <p:spPr>
          <a:xfrm rot="5400000">
            <a:off x="3378200" y="4800600"/>
            <a:ext cx="254000" cy="0"/>
          </a:xfrm>
          <a:prstGeom prst="straightConnector1"/>
          <a:ln w="15240" cap="flat" cmpd="sng" algn="ctr">
            <a:solidFill>
              <a:schemeClr val="accent2"/>
            </a:solidFill>
            <a:tailEnd type="triangle" w="med" len="med"/>
          </a:ln>
        </p:spPr>
      </p:cxnSp>
      <p:sp>
        <p:nvSpPr>
          <p:cNvPr id="15" name="p5-photo-placeholder"/>
          <p:cNvSpPr/>
          <p:nvPr/>
        </p:nvSpPr>
        <p:spPr>
          <a:xfrm>
            <a:off x="7747000" y="1879600"/>
            <a:ext cx="3708400" cy="3098800"/>
          </a:xfrm>
          <a:prstGeom prst="rect">
            <a:avLst/>
          </a:prstGeom>
          <a:solidFill>
            <a:srgbClr val="EFF5F0"/>
          </a:solidFill>
          <a:ln w="19050" cap="flat" cmpd="sng" algn="ctr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p5-photo-placeholder-text"/>
          <p:cNvSpPr txBox="1"/>
          <p:nvPr/>
        </p:nvSpPr>
        <p:spPr>
          <a:xfrm>
            <a:off x="8102600" y="2844800"/>
            <a:ext cx="2997200" cy="13716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12500"/>
              </a:lnSpc>
            </a:pPr>
            <a:r>
              <a:rPr lang="zh-CN" b="1" sz="16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ISAAC SIM SCENE PLACEHOLDER</a:t>
            </a:r>
          </a:p>
          <a:p>
            <a:pPr algn="ctr">
              <a:lnSpc>
                <a:spcPct val="112500"/>
              </a:lnSpc>
            </a:pPr>
            <a:r>
              <a:rPr lang="zh-CN" sz="16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Isaac Sim 场景占位</a:t>
            </a:r>
          </a:p>
          <a:p>
            <a:pPr algn="ctr">
              <a:lnSpc>
                <a:spcPct val="112500"/>
              </a:lnSpc>
            </a:pPr>
            <a:r>
              <a:rPr lang="zh-CN" sz="14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Insert scene image / video frame</a:t>
            </a:r>
          </a:p>
          <a:p>
            <a:pPr algn="ctr">
              <a:lnSpc>
                <a:spcPct val="112500"/>
              </a:lnSpc>
            </a:pPr>
            <a:r>
              <a:rPr lang="zh-CN" sz="14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替换为仿真截图或视频帧</a:t>
            </a:r>
          </a:p>
        </p:txBody>
      </p:sp>
      <p:sp>
        <p:nvSpPr>
          <p:cNvPr id="17" name="p5-side-note"/>
          <p:cNvSpPr txBox="1"/>
          <p:nvPr/>
        </p:nvSpPr>
        <p:spPr>
          <a:xfrm>
            <a:off x="7747000" y="5283200"/>
            <a:ext cx="3708400" cy="7874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b="1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Explicit hypotheses</a:t>
            </a:r>
          </a:p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geometry · mass · friction · tactile delay</a:t>
            </a:r>
          </a:p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几何 · 质量 · 摩擦 · 触觉延迟</a:t>
            </a:r>
          </a:p>
        </p:txBody>
      </p:sp>
      <p:sp>
        <p:nvSpPr>
          <p:cNvPr id="18" name="p5-page"/>
          <p:cNvSpPr txBox="1"/>
          <p:nvPr/>
        </p:nvSpPr>
        <p:spPr>
          <a:xfrm>
            <a:off x="11023600" y="6096000"/>
            <a:ext cx="457200" cy="254000"/>
          </a:xfrm>
          <a:prstGeom prst="rect">
            <a:avLst/>
          </a:prstGeom>
          <a:noFill/>
        </p:spPr>
        <p:txBody>
          <a:bodyPr lIns="0" tIns="0" rIns="0" bIns="0" wrap="none" anchor="ctr">
            <a:spAutoFit/>
          </a:bodyPr>
          <a:lstStyle/>
          <a:p>
            <a:pPr algn="r">
              <a:lnSpc>
                <a:spcPct val="104167"/>
              </a:lnSpc>
            </a:pPr>
            <a:r>
              <a:rPr lang="zh-CN" sz="12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6-top-rule"/>
          <p:cNvSpPr/>
          <p:nvPr/>
        </p:nvSpPr>
        <p:spPr>
          <a:xfrm>
            <a:off x="711200" y="279400"/>
            <a:ext cx="107696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p6-kicker"/>
          <p:cNvSpPr txBox="1"/>
          <p:nvPr/>
        </p:nvSpPr>
        <p:spPr>
          <a:xfrm>
            <a:off x="711200" y="482600"/>
            <a:ext cx="5334000" cy="2540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200" spc="2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05  /  RESEARCH FOCUS  ·  研究重点</a:t>
            </a:r>
          </a:p>
        </p:txBody>
      </p:sp>
      <p:sp>
        <p:nvSpPr>
          <p:cNvPr id="3" name="p6-title"/>
          <p:cNvSpPr txBox="1"/>
          <p:nvPr/>
        </p:nvSpPr>
        <p:spPr>
          <a:xfrm>
            <a:off x="711200" y="812800"/>
            <a:ext cx="10541000" cy="6096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95833"/>
              </a:lnSpc>
            </a:pPr>
            <a:r>
              <a:rPr lang="zh-CN" b="1" sz="34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Palm-supported enveloping grasp / 掌托式包络抓握</a:t>
            </a:r>
          </a:p>
        </p:txBody>
      </p:sp>
      <p:sp>
        <p:nvSpPr>
          <p:cNvPr id="4" name="p6-photo-placeholder"/>
          <p:cNvSpPr/>
          <p:nvPr/>
        </p:nvSpPr>
        <p:spPr>
          <a:xfrm>
            <a:off x="711200" y="1854200"/>
            <a:ext cx="5105400" cy="3581400"/>
          </a:xfrm>
          <a:prstGeom prst="rect">
            <a:avLst/>
          </a:prstGeom>
          <a:solidFill>
            <a:srgbClr val="EFF5F0"/>
          </a:solidFill>
          <a:ln w="19050" cap="flat" cmpd="sng" algn="ctr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p6-photo-placeholder-text"/>
          <p:cNvSpPr txBox="1"/>
          <p:nvPr/>
        </p:nvSpPr>
        <p:spPr>
          <a:xfrm>
            <a:off x="1168400" y="3048000"/>
            <a:ext cx="4191000" cy="11430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12500"/>
              </a:lnSpc>
            </a:pPr>
            <a:r>
              <a:rPr lang="zh-CN" b="1" sz="16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GRASP SEQUENCE PLACEHOLDER</a:t>
            </a:r>
          </a:p>
          <a:p>
            <a:pPr algn="ctr">
              <a:lnSpc>
                <a:spcPct val="112500"/>
              </a:lnSpc>
            </a:pPr>
            <a:r>
              <a:rPr lang="zh-CN" sz="16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抓取序列占位</a:t>
            </a:r>
          </a:p>
          <a:p>
            <a:pPr algn="ctr">
              <a:lnSpc>
                <a:spcPct val="112500"/>
              </a:lnSpc>
            </a:pPr>
            <a:r>
              <a:rPr lang="zh-CN" sz="14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Insert hand / object sequence here</a:t>
            </a:r>
          </a:p>
          <a:p>
            <a:pPr algn="ctr">
              <a:lnSpc>
                <a:spcPct val="112500"/>
              </a:lnSpc>
            </a:pPr>
            <a:r>
              <a:rPr lang="zh-CN" sz="14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此处替换手部—果实动作序列</a:t>
            </a:r>
          </a:p>
        </p:txBody>
      </p:sp>
      <p:cxnSp>
        <p:nvCxnSpPr>
          <p:cNvPr id="6" name="p6-process-line"/>
          <p:cNvCxnSpPr/>
          <p:nvPr/>
        </p:nvCxnSpPr>
        <p:spPr>
          <a:xfrm rot="5400000">
            <a:off x="4991100" y="3784600"/>
            <a:ext cx="3403600" cy="0"/>
          </a:xfrm>
          <a:prstGeom prst="straightConnector1"/>
          <a:ln w="25400" cap="flat" cmpd="sng" algn="ctr">
            <a:solidFill>
              <a:schemeClr val="accent1"/>
            </a:solidFill>
          </a:ln>
        </p:spPr>
      </p:cxnSp>
      <p:sp>
        <p:nvSpPr>
          <p:cNvPr id="7" name="p6-dot1"/>
          <p:cNvSpPr/>
          <p:nvPr/>
        </p:nvSpPr>
        <p:spPr>
          <a:xfrm>
            <a:off x="6553200" y="21844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p6-dot2"/>
          <p:cNvSpPr/>
          <p:nvPr/>
        </p:nvSpPr>
        <p:spPr>
          <a:xfrm>
            <a:off x="6553200" y="3073400"/>
            <a:ext cx="279400" cy="27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p6-dot3"/>
          <p:cNvSpPr/>
          <p:nvPr/>
        </p:nvSpPr>
        <p:spPr>
          <a:xfrm>
            <a:off x="6553200" y="3962400"/>
            <a:ext cx="279400" cy="27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p6-dot4"/>
          <p:cNvSpPr/>
          <p:nvPr/>
        </p:nvSpPr>
        <p:spPr>
          <a:xfrm>
            <a:off x="6553200" y="4851400"/>
            <a:ext cx="279400" cy="27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p6-stage1"/>
          <p:cNvSpPr txBox="1"/>
          <p:nvPr/>
        </p:nvSpPr>
        <p:spPr>
          <a:xfrm>
            <a:off x="7086600" y="2032000"/>
            <a:ext cx="4318000" cy="6858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Palm support first  /  先建立掌部支撑</a:t>
            </a:r>
          </a:p>
        </p:txBody>
      </p:sp>
      <p:sp>
        <p:nvSpPr>
          <p:cNvPr id="12" name="p6-stage2"/>
          <p:cNvSpPr txBox="1"/>
          <p:nvPr/>
        </p:nvSpPr>
        <p:spPr>
          <a:xfrm>
            <a:off x="7086600" y="2921000"/>
            <a:ext cx="4318000" cy="6858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Thumb opposition  /  拇指形成对置</a:t>
            </a:r>
          </a:p>
        </p:txBody>
      </p:sp>
      <p:sp>
        <p:nvSpPr>
          <p:cNvPr id="13" name="p6-stage3"/>
          <p:cNvSpPr txBox="1"/>
          <p:nvPr/>
        </p:nvSpPr>
        <p:spPr>
          <a:xfrm>
            <a:off x="7086600" y="3810000"/>
            <a:ext cx="4318000" cy="6858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Multi-finger enveloping  /  多指形成包络</a:t>
            </a:r>
          </a:p>
        </p:txBody>
      </p:sp>
      <p:sp>
        <p:nvSpPr>
          <p:cNvPr id="14" name="p6-stage4"/>
          <p:cNvSpPr txBox="1"/>
          <p:nvPr/>
        </p:nvSpPr>
        <p:spPr>
          <a:xfrm>
            <a:off x="7086600" y="4699000"/>
            <a:ext cx="4318000" cy="6858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Gentle retention  /  低压力保持与调整</a:t>
            </a:r>
          </a:p>
        </p:txBody>
      </p:sp>
      <p:cxnSp>
        <p:nvCxnSpPr>
          <p:cNvPr id="15" name="p6-bottom-rule"/>
          <p:cNvCxnSpPr/>
          <p:nvPr/>
        </p:nvCxnSpPr>
        <p:spPr>
          <a:xfrm rot="0">
            <a:off x="711200" y="5797550"/>
            <a:ext cx="10769600" cy="0"/>
          </a:xfrm>
          <a:prstGeom prst="straightConnector1"/>
          <a:ln w="12700" cap="flat" cmpd="sng" algn="ctr">
            <a:solidFill>
              <a:srgbClr val="D6E0D7"/>
            </a:solidFill>
          </a:ln>
        </p:spPr>
      </p:cxnSp>
      <p:sp>
        <p:nvSpPr>
          <p:cNvPr id="16" name="p6-bottom-note"/>
          <p:cNvSpPr txBox="1"/>
          <p:nvPr/>
        </p:nvSpPr>
        <p:spPr>
          <a:xfrm>
            <a:off x="711200" y="5969000"/>
            <a:ext cx="10033000" cy="3556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Research question / 研究问题：can touch maintain a secure grasp? / 触觉能否维持稳定抓取？</a:t>
            </a:r>
          </a:p>
        </p:txBody>
      </p:sp>
      <p:sp>
        <p:nvSpPr>
          <p:cNvPr id="17" name="p6-page"/>
          <p:cNvSpPr txBox="1"/>
          <p:nvPr/>
        </p:nvSpPr>
        <p:spPr>
          <a:xfrm>
            <a:off x="11023600" y="6096000"/>
            <a:ext cx="457200" cy="254000"/>
          </a:xfrm>
          <a:prstGeom prst="rect">
            <a:avLst/>
          </a:prstGeom>
          <a:noFill/>
        </p:spPr>
        <p:txBody>
          <a:bodyPr lIns="0" tIns="0" rIns="0" bIns="0" wrap="none" anchor="ctr">
            <a:spAutoFit/>
          </a:bodyPr>
          <a:lstStyle/>
          <a:p>
            <a:pPr algn="r">
              <a:lnSpc>
                <a:spcPct val="104167"/>
              </a:lnSpc>
            </a:pPr>
            <a:r>
              <a:rPr lang="zh-CN" sz="12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7-top-rule"/>
          <p:cNvSpPr/>
          <p:nvPr/>
        </p:nvSpPr>
        <p:spPr>
          <a:xfrm>
            <a:off x="711200" y="279400"/>
            <a:ext cx="107696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p7-kicker"/>
          <p:cNvSpPr txBox="1"/>
          <p:nvPr/>
        </p:nvSpPr>
        <p:spPr>
          <a:xfrm>
            <a:off x="711200" y="482600"/>
            <a:ext cx="5334000" cy="2540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200" spc="2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06  /  ROADMAP  ·  路线图</a:t>
            </a:r>
          </a:p>
        </p:txBody>
      </p:sp>
      <p:sp>
        <p:nvSpPr>
          <p:cNvPr id="3" name="p7-title"/>
          <p:cNvSpPr txBox="1"/>
          <p:nvPr/>
        </p:nvSpPr>
        <p:spPr>
          <a:xfrm>
            <a:off x="711200" y="812800"/>
            <a:ext cx="10541000" cy="6096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95833"/>
              </a:lnSpc>
            </a:pPr>
            <a:r>
              <a:rPr lang="zh-CN" b="1" sz="34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A research program / 一项研究计划</a:t>
            </a:r>
          </a:p>
        </p:txBody>
      </p:sp>
      <p:sp>
        <p:nvSpPr>
          <p:cNvPr id="4" name="p7-lead"/>
          <p:cNvSpPr txBox="1"/>
          <p:nvPr/>
        </p:nvSpPr>
        <p:spPr>
          <a:xfrm>
            <a:off x="711200" y="1651000"/>
            <a:ext cx="10160000" cy="5334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From controllable infrastructure to measured field validation. / 从可控基础设施走向实测田间验证。</a:t>
            </a:r>
          </a:p>
        </p:txBody>
      </p:sp>
      <p:cxnSp>
        <p:nvCxnSpPr>
          <p:cNvPr id="5" name="p7-timeline"/>
          <p:cNvCxnSpPr/>
          <p:nvPr/>
        </p:nvCxnSpPr>
        <p:spPr>
          <a:xfrm rot="0">
            <a:off x="1422400" y="2959100"/>
            <a:ext cx="9423400" cy="0"/>
          </a:xfrm>
          <a:prstGeom prst="straightConnector1"/>
          <a:ln w="25400" cap="flat" cmpd="sng" algn="ctr">
            <a:solidFill>
              <a:srgbClr val="D6E0D7"/>
            </a:solidFill>
          </a:ln>
        </p:spPr>
      </p:cxnSp>
      <p:sp>
        <p:nvSpPr>
          <p:cNvPr id="6" name="p7-dot1"/>
          <p:cNvSpPr/>
          <p:nvPr/>
        </p:nvSpPr>
        <p:spPr>
          <a:xfrm>
            <a:off x="1295400" y="2819400"/>
            <a:ext cx="279400" cy="27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p7-dot2"/>
          <p:cNvSpPr/>
          <p:nvPr/>
        </p:nvSpPr>
        <p:spPr>
          <a:xfrm>
            <a:off x="4241800" y="2819400"/>
            <a:ext cx="279400" cy="27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p7-dot3"/>
          <p:cNvSpPr/>
          <p:nvPr/>
        </p:nvSpPr>
        <p:spPr>
          <a:xfrm>
            <a:off x="7188200" y="28194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p7-dot4"/>
          <p:cNvSpPr/>
          <p:nvPr/>
        </p:nvSpPr>
        <p:spPr>
          <a:xfrm>
            <a:off x="10134600" y="28194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p7-stage1"/>
          <p:cNvSpPr txBox="1"/>
          <p:nvPr/>
        </p:nvSpPr>
        <p:spPr>
          <a:xfrm>
            <a:off x="736600" y="2006600"/>
            <a:ext cx="1905000" cy="939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Foundation</a:t>
            </a:r>
          </a:p>
          <a:p>
            <a:pPr algn="l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控制台 · SDK · 触觉</a:t>
            </a:r>
          </a:p>
          <a:p>
            <a:pPr algn="l">
              <a:lnSpc>
                <a:spcPct val="100000"/>
              </a:lnSpc>
            </a:pPr>
            <a:r>
              <a:rPr lang="zh-CN" sz="13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implemented</a:t>
            </a:r>
          </a:p>
        </p:txBody>
      </p:sp>
      <p:sp>
        <p:nvSpPr>
          <p:cNvPr id="11" name="p7-stage2"/>
          <p:cNvSpPr txBox="1"/>
          <p:nvPr/>
        </p:nvSpPr>
        <p:spPr>
          <a:xfrm>
            <a:off x="3632200" y="3276600"/>
            <a:ext cx="2133600" cy="939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Simulation</a:t>
            </a:r>
          </a:p>
          <a:p>
            <a:pPr algn="l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URDF/USD · PhysX</a:t>
            </a:r>
          </a:p>
          <a:p>
            <a:pPr algn="l">
              <a:lnSpc>
                <a:spcPct val="100000"/>
              </a:lnSpc>
            </a:pPr>
            <a:r>
              <a:rPr lang="zh-CN" sz="13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validated in layers</a:t>
            </a:r>
          </a:p>
        </p:txBody>
      </p:sp>
      <p:sp>
        <p:nvSpPr>
          <p:cNvPr id="12" name="p7-stage3"/>
          <p:cNvSpPr txBox="1"/>
          <p:nvPr/>
        </p:nvSpPr>
        <p:spPr>
          <a:xfrm>
            <a:off x="6553200" y="2006600"/>
            <a:ext cx="2159000" cy="939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Policy learning</a:t>
            </a:r>
          </a:p>
          <a:p>
            <a:pPr algn="l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PPO · tactile loop</a:t>
            </a:r>
          </a:p>
          <a:p>
            <a:pPr algn="l">
              <a:lnSpc>
                <a:spcPct val="100000"/>
              </a:lnSpc>
            </a:pPr>
            <a:r>
              <a:rPr lang="zh-CN" sz="13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research focus</a:t>
            </a:r>
          </a:p>
        </p:txBody>
      </p:sp>
      <p:sp>
        <p:nvSpPr>
          <p:cNvPr id="13" name="p7-stage4"/>
          <p:cNvSpPr txBox="1"/>
          <p:nvPr/>
        </p:nvSpPr>
        <p:spPr>
          <a:xfrm>
            <a:off x="9499600" y="3276600"/>
            <a:ext cx="2159000" cy="9398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Field validation</a:t>
            </a:r>
          </a:p>
          <a:p>
            <a:pPr algn="l">
              <a:lnSpc>
                <a:spcPct val="100000"/>
              </a:lnSpc>
            </a:pPr>
            <a:r>
              <a:rPr lang="zh-CN" sz="15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calibration · supervised tests</a:t>
            </a:r>
          </a:p>
          <a:p>
            <a:pPr algn="l">
              <a:lnSpc>
                <a:spcPct val="100000"/>
              </a:lnSpc>
            </a:pPr>
            <a:r>
              <a:rPr lang="zh-CN" sz="13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future gate</a:t>
            </a:r>
          </a:p>
        </p:txBody>
      </p:sp>
      <p:sp>
        <p:nvSpPr>
          <p:cNvPr id="14" name="p7-measure-label"/>
          <p:cNvSpPr txBox="1"/>
          <p:nvPr/>
        </p:nvSpPr>
        <p:spPr>
          <a:xfrm>
            <a:off x="711200" y="4826000"/>
            <a:ext cx="3302000" cy="3556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700">
                <a:solidFill>
                  <a:schemeClr val="dk2"/>
                </a:solidFill>
                <a:latin typeface="Arial"/>
                <a:ea typeface="Microsoft YaHei"/>
                <a:cs typeface="Microsoft YaHei"/>
              </a:rPr>
              <a:t>What we measure / 关注的证据</a:t>
            </a:r>
          </a:p>
        </p:txBody>
      </p:sp>
      <p:cxnSp>
        <p:nvCxnSpPr>
          <p:cNvPr id="15" name="p7-measure-line"/>
          <p:cNvCxnSpPr/>
          <p:nvPr/>
        </p:nvCxnSpPr>
        <p:spPr>
          <a:xfrm rot="0">
            <a:off x="711200" y="5365750"/>
            <a:ext cx="10769600" cy="0"/>
          </a:xfrm>
          <a:prstGeom prst="straightConnector1"/>
          <a:ln w="12700" cap="flat" cmpd="sng" algn="ctr">
            <a:solidFill>
              <a:srgbClr val="D6E0D7"/>
            </a:solidFill>
          </a:ln>
        </p:spPr>
      </p:cxnSp>
      <p:sp>
        <p:nvSpPr>
          <p:cNvPr id="16" name="p7-m1"/>
          <p:cNvSpPr txBox="1"/>
          <p:nvPr/>
        </p:nvSpPr>
        <p:spPr>
          <a:xfrm>
            <a:off x="711200" y="5562600"/>
            <a:ext cx="2336800" cy="5842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Safety</a:t>
            </a:r>
            <a:br/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17" name="p7-m2"/>
          <p:cNvSpPr txBox="1"/>
          <p:nvPr/>
        </p:nvSpPr>
        <p:spPr>
          <a:xfrm>
            <a:off x="3429000" y="5562600"/>
            <a:ext cx="2336800" cy="5842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Contact</a:t>
            </a:r>
            <a:br/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接触与触觉</a:t>
            </a:r>
          </a:p>
        </p:txBody>
      </p:sp>
      <p:sp>
        <p:nvSpPr>
          <p:cNvPr id="18" name="p7-m3"/>
          <p:cNvSpPr txBox="1"/>
          <p:nvPr/>
        </p:nvSpPr>
        <p:spPr>
          <a:xfrm>
            <a:off x="6146800" y="5562600"/>
            <a:ext cx="2336800" cy="5842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Robustness</a:t>
            </a:r>
            <a:br/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随机化鲁棒性</a:t>
            </a:r>
          </a:p>
        </p:txBody>
      </p:sp>
      <p:sp>
        <p:nvSpPr>
          <p:cNvPr id="19" name="p7-m4"/>
          <p:cNvSpPr txBox="1"/>
          <p:nvPr/>
        </p:nvSpPr>
        <p:spPr>
          <a:xfrm>
            <a:off x="8864600" y="5562600"/>
            <a:ext cx="2336800" cy="5842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Reproducibility</a:t>
            </a:r>
            <a:br/>
            <a:r>
              <a:rPr lang="zh-CN" sz="1600">
                <a:solidFill>
                  <a:srgbClr val="617167"/>
                </a:solidFill>
                <a:latin typeface="Arial"/>
                <a:ea typeface="Microsoft YaHei"/>
                <a:cs typeface="Microsoft YaHei"/>
              </a:rPr>
              <a:t>可复现性</a:t>
            </a:r>
          </a:p>
        </p:txBody>
      </p:sp>
      <p:sp>
        <p:nvSpPr>
          <p:cNvPr id="20" name="p7-page"/>
          <p:cNvSpPr txBox="1"/>
          <p:nvPr/>
        </p:nvSpPr>
        <p:spPr>
          <a:xfrm>
            <a:off x="11023600" y="6096000"/>
            <a:ext cx="457200" cy="254000"/>
          </a:xfrm>
          <a:prstGeom prst="rect">
            <a:avLst/>
          </a:prstGeom>
          <a:noFill/>
        </p:spPr>
        <p:txBody>
          <a:bodyPr lIns="0" tIns="0" rIns="0" bIns="0" wrap="none" anchor="ctr">
            <a:spAutoFit/>
          </a:bodyPr>
          <a:lstStyle/>
          <a:p>
            <a:pPr algn="r">
              <a:lnSpc>
                <a:spcPct val="104167"/>
              </a:lnSpc>
            </a:pPr>
            <a:r>
              <a:rPr lang="zh-CN" sz="1200">
                <a:solidFill>
                  <a:schemeClr val="accent1"/>
                </a:solidFill>
                <a:latin typeface="Arial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p8-kicker"/>
          <p:cNvSpPr txBox="1"/>
          <p:nvPr/>
        </p:nvSpPr>
        <p:spPr>
          <a:xfrm>
            <a:off x="736600" y="736600"/>
            <a:ext cx="5334000" cy="3302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b="1" sz="1200" spc="2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07  /  COLLABORATION  ·  合作方向</a:t>
            </a:r>
          </a:p>
        </p:txBody>
      </p:sp>
      <p:sp>
        <p:nvSpPr>
          <p:cNvPr id="2" name="p8-rule"/>
          <p:cNvSpPr/>
          <p:nvPr/>
        </p:nvSpPr>
        <p:spPr>
          <a:xfrm>
            <a:off x="736600" y="1308100"/>
            <a:ext cx="279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p8-title"/>
          <p:cNvSpPr txBox="1"/>
          <p:nvPr/>
        </p:nvSpPr>
        <p:spPr>
          <a:xfrm>
            <a:off x="736600" y="1676400"/>
            <a:ext cx="6858000" cy="1371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b="1" sz="4200">
                <a:solidFill>
                  <a:schemeClr val="lt2"/>
                </a:solidFill>
                <a:latin typeface="Arial"/>
                <a:ea typeface="Microsoft YaHei"/>
                <a:cs typeface="Microsoft YaHei"/>
              </a:rPr>
              <a:t>From simulation evidence</a:t>
            </a:r>
          </a:p>
          <a:p>
            <a:pPr algn="l">
              <a:lnSpc>
                <a:spcPct val="90000"/>
              </a:lnSpc>
            </a:pPr>
            <a:r>
              <a:rPr lang="zh-CN" b="1" sz="4200">
                <a:solidFill>
                  <a:schemeClr val="lt2"/>
                </a:solidFill>
                <a:latin typeface="Arial"/>
                <a:ea typeface="Microsoft YaHei"/>
                <a:cs typeface="Microsoft YaHei"/>
              </a:rPr>
              <a:t>to safe field validation</a:t>
            </a:r>
          </a:p>
        </p:txBody>
      </p:sp>
      <p:sp>
        <p:nvSpPr>
          <p:cNvPr id="4" name="p8-cn-title"/>
          <p:cNvSpPr txBox="1"/>
          <p:nvPr/>
        </p:nvSpPr>
        <p:spPr>
          <a:xfrm>
            <a:off x="762000" y="3276600"/>
            <a:ext cx="6350000" cy="5588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sz="20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从仿真证据走向安全的真实世界验证</a:t>
            </a:r>
          </a:p>
        </p:txBody>
      </p:sp>
      <p:sp>
        <p:nvSpPr>
          <p:cNvPr id="5" name="p8-body"/>
          <p:cNvSpPr txBox="1"/>
          <p:nvPr/>
        </p:nvSpPr>
        <p:spPr>
          <a:xfrm>
            <a:off x="762000" y="4191000"/>
            <a:ext cx="6350000" cy="16256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12500"/>
              </a:lnSpc>
            </a:pPr>
            <a:r>
              <a:rPr lang="zh-CN" b="1" sz="16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Potential collaboration</a:t>
            </a:r>
            <a:r>
              <a:rPr lang="zh-CN" sz="16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 xml:space="preserve">  潜在合作方向</a:t>
            </a:r>
          </a:p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• tactile calibration  ·  触觉标定</a:t>
            </a:r>
          </a:p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• fruit mechanics  ·  果实力学</a:t>
            </a:r>
          </a:p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• perception and simulation  ·  感知与仿真</a:t>
            </a:r>
          </a:p>
          <a:p>
            <a:pPr algn="l">
              <a:lnSpc>
                <a:spcPct val="112500"/>
              </a:lnSpc>
            </a:pPr>
            <a:r>
              <a:rPr lang="zh-CN" sz="16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• safe sim-to-real validation  ·  安全 sim-to-real 验证</a:t>
            </a:r>
          </a:p>
        </p:txBody>
      </p:sp>
      <p:sp>
        <p:nvSpPr>
          <p:cNvPr id="6" name="p8-contact-placeholder"/>
          <p:cNvSpPr/>
          <p:nvPr/>
        </p:nvSpPr>
        <p:spPr>
          <a:xfrm>
            <a:off x="8585200" y="1625600"/>
            <a:ext cx="2895600" cy="3175000"/>
          </a:xfrm>
          <a:prstGeom prst="rect">
            <a:avLst/>
          </a:prstGeom>
          <a:solidFill>
            <a:srgbClr val="214E3C"/>
          </a:solidFill>
          <a:ln w="19050" cap="flat" cmpd="sng" algn="ctr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p8-contact-text"/>
          <p:cNvSpPr txBox="1"/>
          <p:nvPr/>
        </p:nvSpPr>
        <p:spPr>
          <a:xfrm>
            <a:off x="8890000" y="2717800"/>
            <a:ext cx="2286000" cy="990600"/>
          </a:xfrm>
          <a:prstGeom prst="rect">
            <a:avLst/>
          </a:prstGeom>
          <a:noFill/>
        </p:spPr>
        <p:txBody>
          <a:bodyPr lIns="0" tIns="0" rIns="0" bIns="0" wrap="square" anchor="ctr">
            <a:spAutoFit/>
          </a:bodyPr>
          <a:lstStyle/>
          <a:p>
            <a:pPr algn="ctr">
              <a:lnSpc>
                <a:spcPct val="112500"/>
              </a:lnSpc>
            </a:pPr>
            <a:r>
              <a:rPr lang="zh-CN" b="1" sz="16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CONTACT / LOGO PLACEHOLDER</a:t>
            </a:r>
          </a:p>
          <a:p>
            <a:pPr algn="ctr">
              <a:lnSpc>
                <a:spcPct val="112500"/>
              </a:lnSpc>
            </a:pPr>
            <a:r>
              <a:rPr lang="zh-CN" sz="16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联系方式 / 标志占位</a:t>
            </a:r>
          </a:p>
          <a:p>
            <a:pPr algn="ctr">
              <a:lnSpc>
                <a:spcPct val="112500"/>
              </a:lnSpc>
            </a:pPr>
            <a:r>
              <a:rPr lang="zh-CN" sz="14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Add team details here</a:t>
            </a:r>
          </a:p>
        </p:txBody>
      </p:sp>
      <p:cxnSp>
        <p:nvCxnSpPr>
          <p:cNvPr id="8" name="p8-bottom-rule"/>
          <p:cNvCxnSpPr/>
          <p:nvPr/>
        </p:nvCxnSpPr>
        <p:spPr>
          <a:xfrm rot="0">
            <a:off x="762000" y="6178550"/>
            <a:ext cx="10718800" cy="0"/>
          </a:xfrm>
          <a:prstGeom prst="straightConnector1"/>
          <a:ln w="12700" cap="flat" cmpd="sng" algn="ctr">
            <a:solidFill>
              <a:srgbClr val="DDEAE0"/>
            </a:solidFill>
          </a:ln>
        </p:spPr>
      </p:cxnSp>
      <p:sp>
        <p:nvSpPr>
          <p:cNvPr id="9" name="p8-bottom"/>
          <p:cNvSpPr txBox="1"/>
          <p:nvPr/>
        </p:nvSpPr>
        <p:spPr>
          <a:xfrm>
            <a:off x="762000" y="6350000"/>
            <a:ext cx="9652000" cy="304800"/>
          </a:xfrm>
          <a:prstGeom prst="rect">
            <a:avLst/>
          </a:prstGeom>
          <a:noFill/>
        </p:spPr>
        <p:txBody>
          <a:bodyPr lIns="0" tIns="0" rIns="0" bIns="0" wrap="none" anchor="t">
            <a:spAutoFit/>
          </a:bodyPr>
          <a:lstStyle/>
          <a:p>
            <a:pPr algn="l">
              <a:lnSpc>
                <a:spcPct val="104167"/>
              </a:lnSpc>
            </a:pPr>
            <a:r>
              <a:rPr lang="zh-CN" sz="1200">
                <a:solidFill>
                  <a:srgbClr val="DDEAE0"/>
                </a:solidFill>
                <a:latin typeface="Arial"/>
                <a:ea typeface="Microsoft YaHei"/>
                <a:cs typeface="Microsoft YaHei"/>
              </a:rPr>
              <a:t>An open research platform for safe, tactile, dexterous agricultural robotics. / 面向安全、触觉驱动、灵巧农业机器人的开放研究平台。</a:t>
            </a:r>
          </a:p>
        </p:txBody>
      </p:sp>
      <p:sp>
        <p:nvSpPr>
          <p:cNvPr id="10" name="p8-page"/>
          <p:cNvSpPr txBox="1"/>
          <p:nvPr/>
        </p:nvSpPr>
        <p:spPr>
          <a:xfrm>
            <a:off x="11023600" y="6350000"/>
            <a:ext cx="457200" cy="254000"/>
          </a:xfrm>
          <a:prstGeom prst="rect">
            <a:avLst/>
          </a:prstGeom>
          <a:noFill/>
        </p:spPr>
        <p:txBody>
          <a:bodyPr lIns="0" tIns="0" rIns="0" bIns="0" wrap="none" anchor="ctr">
            <a:spAutoFit/>
          </a:bodyPr>
          <a:lstStyle/>
          <a:p>
            <a:pPr algn="r">
              <a:lnSpc>
                <a:spcPct val="104167"/>
              </a:lnSpc>
            </a:pPr>
            <a:r>
              <a:rPr lang="zh-CN" sz="1200">
                <a:solidFill>
                  <a:schemeClr val="accent2"/>
                </a:solidFill>
                <a:latin typeface="Arial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pen-pptd">
  <a:themeElements>
    <a:clrScheme name="open-pptd">
      <a:dk1>
        <a:sysClr val="windowText" lastClr="000000"/>
      </a:dk1>
      <a:lt1>
        <a:sysClr val="window" lastClr="FFFFFF"/>
      </a:lt1>
      <a:dk2>
        <a:srgbClr val="1D2A24"/>
      </a:dk2>
      <a:lt2>
        <a:srgbClr val="F7F9F4"/>
      </a:lt2>
      <a:accent1>
        <a:srgbClr val="245B45"/>
      </a:accent1>
      <a:accent2>
        <a:srgbClr val="B8862E"/>
      </a:accent2>
      <a:accent3>
        <a:srgbClr val="557C67"/>
      </a:accent3>
      <a:accent4>
        <a:srgbClr val="8FAE90"/>
      </a:accent4>
      <a:accent5>
        <a:srgbClr val="8C7650"/>
      </a:accent5>
      <a:accent6>
        <a:srgbClr val="A56A59"/>
      </a:accent6>
      <a:hlink>
        <a:srgbClr val="0563C1"/>
      </a:hlink>
      <a:folHlink>
        <a:srgbClr val="954F72"/>
      </a:folHlink>
    </a:clrScheme>
    <a:fontScheme name="open-pptd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ppt/theme/theme2.xml><?xml version="1.0" encoding="utf-8"?>
<a:theme xmlns:a="http://schemas.openxmlformats.org/drawingml/2006/main" name="open-pptd">
  <a:themeElements>
    <a:clrScheme name="open-pptd">
      <a:dk1>
        <a:sysClr val="windowText" lastClr="000000"/>
      </a:dk1>
      <a:lt1>
        <a:sysClr val="window" lastClr="FFFFFF"/>
      </a:lt1>
      <a:dk2>
        <a:srgbClr val="1D2A24"/>
      </a:dk2>
      <a:lt2>
        <a:srgbClr val="F7F9F4"/>
      </a:lt2>
      <a:accent1>
        <a:srgbClr val="245B45"/>
      </a:accent1>
      <a:accent2>
        <a:srgbClr val="B8862E"/>
      </a:accent2>
      <a:accent3>
        <a:srgbClr val="557C67"/>
      </a:accent3>
      <a:accent4>
        <a:srgbClr val="8FAE90"/>
      </a:accent4>
      <a:accent5>
        <a:srgbClr val="8C7650"/>
      </a:accent5>
      <a:accent6>
        <a:srgbClr val="A56A59"/>
      </a:accent6>
      <a:hlink>
        <a:srgbClr val="0563C1"/>
      </a:hlink>
      <a:folHlink>
        <a:srgbClr val="954F72"/>
      </a:folHlink>
    </a:clrScheme>
    <a:fontScheme name="open-pptd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8" baseType="lpstr">
      <vt:lpstr>幻灯片</vt:lpstr>
      <vt:lpstr>幻灯片</vt:lpstr>
      <vt:lpstr>幻灯片</vt:lpstr>
      <vt:lpstr>幻灯片</vt:lpstr>
      <vt:lpstr>幻灯片</vt:lpstr>
      <vt:lpstr>幻灯片</vt:lpstr>
      <vt:lpstr>幻灯片</vt:lpstr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LinkAgent · Safe, Tactile, Dexterous Tomato Harvesting</dc:title>
  <dc:creator>open-pptd</dc:creator>
  <cp:lastModifiedBy>open-pptd</cp:lastModifiedBy>
  <dcterms:created xsi:type="dcterms:W3CDTF">2026-08-30T09:43:24.677Z</dcterms:created>
  <dcterms:modified xsi:type="dcterms:W3CDTF">2026-08-30T09:43:24.677Z</dcterms:modified>
</cp:coreProperties>
</file>